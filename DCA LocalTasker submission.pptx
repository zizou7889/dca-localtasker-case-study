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9"/>
  </p:notesMasterIdLst>
  <p:sldIdLst>
    <p:sldId id="256" r:id="rId2"/>
    <p:sldId id="263" r:id="rId3"/>
    <p:sldId id="261" r:id="rId4"/>
    <p:sldId id="262" r:id="rId5"/>
    <p:sldId id="260" r:id="rId6"/>
    <p:sldId id="265"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7503EF-A4B2-F646-A90F-C59843EF7619}" v="152" dt="2025-08-08T08:22:03.359"/>
    <p1510:client id="{FAC3DB24-E548-C29D-E31C-86B975590655}" v="1" dt="2025-08-07T10:33:31.7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30"/>
    <p:restoredTop sz="96371"/>
  </p:normalViewPr>
  <p:slideViewPr>
    <p:cSldViewPr snapToGrid="0">
      <p:cViewPr>
        <p:scale>
          <a:sx n="90" d="100"/>
          <a:sy n="90" d="100"/>
        </p:scale>
        <p:origin x="144" y="7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F3C3E-8F9E-854C-852B-CC613F270509}"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96FE0-3E22-5C4E-85F2-B9957EA68378}" type="slidenum">
              <a:rPr lang="en-US" smtClean="0"/>
              <a:t>‹#›</a:t>
            </a:fld>
            <a:endParaRPr lang="en-US"/>
          </a:p>
        </p:txBody>
      </p:sp>
    </p:spTree>
    <p:extLst>
      <p:ext uri="{BB962C8B-B14F-4D97-AF65-F5344CB8AC3E}">
        <p14:creationId xmlns:p14="http://schemas.microsoft.com/office/powerpoint/2010/main" val="4016369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Martha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 home ownership rates declining over the years, young buyers have been stretching their finances to be able to afford a house</a:t>
            </a:r>
            <a:r>
              <a:rPr lang="en-US" baseline="30000" dirty="0"/>
              <a:t>3</a:t>
            </a:r>
            <a:r>
              <a:rPr lang="en-US" dirty="0"/>
              <a:t>.</a:t>
            </a:r>
          </a:p>
          <a:p>
            <a:endParaRPr lang="en-US" dirty="0"/>
          </a:p>
        </p:txBody>
      </p:sp>
      <p:sp>
        <p:nvSpPr>
          <p:cNvPr id="4" name="Slide Number Placeholder 3"/>
          <p:cNvSpPr>
            <a:spLocks noGrp="1"/>
          </p:cNvSpPr>
          <p:nvPr>
            <p:ph type="sldNum" sz="quarter" idx="5"/>
          </p:nvPr>
        </p:nvSpPr>
        <p:spPr/>
        <p:txBody>
          <a:bodyPr/>
          <a:lstStyle/>
          <a:p>
            <a:fld id="{4EE96FE0-3E22-5C4E-85F2-B9957EA68378}" type="slidenum">
              <a:rPr lang="en-US" smtClean="0"/>
              <a:t>2</a:t>
            </a:fld>
            <a:endParaRPr lang="en-US"/>
          </a:p>
        </p:txBody>
      </p:sp>
    </p:spTree>
    <p:extLst>
      <p:ext uri="{BB962C8B-B14F-4D97-AF65-F5344CB8AC3E}">
        <p14:creationId xmlns:p14="http://schemas.microsoft.com/office/powerpoint/2010/main" val="2819619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enhance Digital presence of the company, We should begin with advertising on Instagram, Facebook and Google. By focusing on these platforms only out of the rest, we could generate maximum possible leads, revenue and digital presence in least possible time if the advertisements are displayed to the targeted audience in the targeted areas consistently throughout the period decided beforehand.</a:t>
            </a:r>
          </a:p>
          <a:p>
            <a:endParaRPr lang="en-US" dirty="0"/>
          </a:p>
          <a:p>
            <a:r>
              <a:rPr lang="en-US" dirty="0"/>
              <a:t>^graph of millennial social media use?</a:t>
            </a:r>
          </a:p>
        </p:txBody>
      </p:sp>
      <p:sp>
        <p:nvSpPr>
          <p:cNvPr id="4" name="Slide Number Placeholder 3"/>
          <p:cNvSpPr>
            <a:spLocks noGrp="1"/>
          </p:cNvSpPr>
          <p:nvPr>
            <p:ph type="sldNum" sz="quarter" idx="5"/>
          </p:nvPr>
        </p:nvSpPr>
        <p:spPr/>
        <p:txBody>
          <a:bodyPr/>
          <a:lstStyle/>
          <a:p>
            <a:fld id="{4EE96FE0-3E22-5C4E-85F2-B9957EA68378}" type="slidenum">
              <a:rPr lang="en-US" smtClean="0"/>
              <a:t>3</a:t>
            </a:fld>
            <a:endParaRPr lang="en-US"/>
          </a:p>
        </p:txBody>
      </p:sp>
    </p:spTree>
    <p:extLst>
      <p:ext uri="{BB962C8B-B14F-4D97-AF65-F5344CB8AC3E}">
        <p14:creationId xmlns:p14="http://schemas.microsoft.com/office/powerpoint/2010/main" val="478379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Collaborations could be made with big hardware companies. Hardware items could be sold with stickers on it, saying ‘Free Installation’ from Local Tasker, though the revenue deal could be struck on the management level with the hardware company. This way all the parties involved could benefit.</a:t>
            </a:r>
          </a:p>
          <a:p>
            <a:endParaRPr lang="en-US" dirty="0"/>
          </a:p>
          <a:p>
            <a:r>
              <a:rPr lang="en-US" dirty="0"/>
              <a:t>Partnership deals could be struck with Constructors, Small and Big landlords, which would fetch more business for Local Tasker.</a:t>
            </a:r>
          </a:p>
          <a:p>
            <a:endParaRPr lang="en-US" dirty="0"/>
          </a:p>
          <a:p>
            <a:r>
              <a:rPr lang="en-US" dirty="0"/>
              <a:t>A deal could be made with Hardware stores as well, who could offer to provide cheap installations to their customers through local tasker. (This option is a substitute for 1st option, in case a deal cannot go through with the big players)</a:t>
            </a:r>
          </a:p>
        </p:txBody>
      </p:sp>
      <p:sp>
        <p:nvSpPr>
          <p:cNvPr id="4" name="Slide Number Placeholder 3"/>
          <p:cNvSpPr>
            <a:spLocks noGrp="1"/>
          </p:cNvSpPr>
          <p:nvPr>
            <p:ph type="sldNum" sz="quarter" idx="5"/>
          </p:nvPr>
        </p:nvSpPr>
        <p:spPr/>
        <p:txBody>
          <a:bodyPr/>
          <a:lstStyle/>
          <a:p>
            <a:fld id="{4EE96FE0-3E22-5C4E-85F2-B9957EA68378}" type="slidenum">
              <a:rPr lang="en-US" smtClean="0"/>
              <a:t>4</a:t>
            </a:fld>
            <a:endParaRPr lang="en-US"/>
          </a:p>
        </p:txBody>
      </p:sp>
    </p:spTree>
    <p:extLst>
      <p:ext uri="{BB962C8B-B14F-4D97-AF65-F5344CB8AC3E}">
        <p14:creationId xmlns:p14="http://schemas.microsoft.com/office/powerpoint/2010/main" val="1743640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research from the persona to incorporate price transparency and reliable service verification  into the app</a:t>
            </a:r>
          </a:p>
          <a:p>
            <a:endParaRPr lang="en-US" dirty="0"/>
          </a:p>
          <a:p>
            <a:r>
              <a:rPr lang="en-US" dirty="0"/>
              <a:t>Goal:</a:t>
            </a:r>
          </a:p>
          <a:p>
            <a:r>
              <a:rPr lang="en-US" dirty="0"/>
              <a:t>To make app convenient, trustworthy, and reliable (addressing the target market’s fears)</a:t>
            </a:r>
          </a:p>
        </p:txBody>
      </p:sp>
      <p:sp>
        <p:nvSpPr>
          <p:cNvPr id="4" name="Slide Number Placeholder 3"/>
          <p:cNvSpPr>
            <a:spLocks noGrp="1"/>
          </p:cNvSpPr>
          <p:nvPr>
            <p:ph type="sldNum" sz="quarter" idx="5"/>
          </p:nvPr>
        </p:nvSpPr>
        <p:spPr/>
        <p:txBody>
          <a:bodyPr/>
          <a:lstStyle/>
          <a:p>
            <a:fld id="{4EE96FE0-3E22-5C4E-85F2-B9957EA68378}" type="slidenum">
              <a:rPr lang="en-US" smtClean="0"/>
              <a:t>5</a:t>
            </a:fld>
            <a:endParaRPr lang="en-US"/>
          </a:p>
        </p:txBody>
      </p:sp>
    </p:spTree>
    <p:extLst>
      <p:ext uri="{BB962C8B-B14F-4D97-AF65-F5344CB8AC3E}">
        <p14:creationId xmlns:p14="http://schemas.microsoft.com/office/powerpoint/2010/main" val="1841837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Zidane- can you incorporate measurable targets </a:t>
            </a:r>
            <a:r>
              <a:rPr lang="en-US" sz="1200" b="0" i="0" u="none" strike="noStrike" kern="1200" dirty="0">
                <a:solidFill>
                  <a:schemeClr val="tx1"/>
                </a:solidFill>
                <a:effectLst/>
                <a:latin typeface="+mn-lt"/>
                <a:ea typeface="+mn-ea"/>
                <a:cs typeface="+mn-cs"/>
              </a:rPr>
              <a:t>(e.g., 25% increase in leads, reduced bounce rates). Can talk about this in the presentation instead of putting it on the slide</a:t>
            </a:r>
          </a:p>
        </p:txBody>
      </p:sp>
      <p:sp>
        <p:nvSpPr>
          <p:cNvPr id="4" name="Slide Number Placeholder 3"/>
          <p:cNvSpPr>
            <a:spLocks noGrp="1"/>
          </p:cNvSpPr>
          <p:nvPr>
            <p:ph type="sldNum" sz="quarter" idx="5"/>
          </p:nvPr>
        </p:nvSpPr>
        <p:spPr/>
        <p:txBody>
          <a:bodyPr/>
          <a:lstStyle/>
          <a:p>
            <a:fld id="{4EE96FE0-3E22-5C4E-85F2-B9957EA68378}" type="slidenum">
              <a:rPr lang="en-US" smtClean="0"/>
              <a:t>6</a:t>
            </a:fld>
            <a:endParaRPr lang="en-US"/>
          </a:p>
        </p:txBody>
      </p:sp>
    </p:spTree>
    <p:extLst>
      <p:ext uri="{BB962C8B-B14F-4D97-AF65-F5344CB8AC3E}">
        <p14:creationId xmlns:p14="http://schemas.microsoft.com/office/powerpoint/2010/main" val="3379807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1295275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2731135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3991652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6AF31F-48C0-9343-987B-E058CD7A5B8D}"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3091405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6AF31F-48C0-9343-987B-E058CD7A5B8D}"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3223893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3119139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230439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780094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6AF31F-48C0-9343-987B-E058CD7A5B8D}"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2244824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6AF31F-48C0-9343-987B-E058CD7A5B8D}"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1121036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2966073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1B896-8A69-E34E-9938-C6D54B55C921}"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794944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621452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A6AF31F-48C0-9343-987B-E058CD7A5B8D}" type="datetimeFigureOut">
              <a:rPr lang="en-US" smtClean="0"/>
              <a:t>1/30/2026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468579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A6AF31F-48C0-9343-987B-E058CD7A5B8D}" type="datetimeFigureOut">
              <a:rPr lang="en-US" smtClean="0"/>
              <a:t>1/30/2026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22421996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25591508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6AF31F-48C0-9343-987B-E058CD7A5B8D}"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61B896-8A69-E34E-9938-C6D54B55C921}" type="slidenum">
              <a:rPr lang="en-US" smtClean="0"/>
              <a:t>‹#›</a:t>
            </a:fld>
            <a:endParaRPr lang="en-US"/>
          </a:p>
        </p:txBody>
      </p:sp>
    </p:spTree>
    <p:extLst>
      <p:ext uri="{BB962C8B-B14F-4D97-AF65-F5344CB8AC3E}">
        <p14:creationId xmlns:p14="http://schemas.microsoft.com/office/powerpoint/2010/main" val="3779457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A6AF31F-48C0-9343-987B-E058CD7A5B8D}" type="datetimeFigureOut">
              <a:rPr lang="en-US" smtClean="0"/>
              <a:t>1/30/2026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261B896-8A69-E34E-9938-C6D54B55C921}" type="slidenum">
              <a:rPr lang="en-US" smtClean="0"/>
              <a:t>‹#›</a:t>
            </a:fld>
            <a:endParaRPr lang="en-US"/>
          </a:p>
        </p:txBody>
      </p:sp>
    </p:spTree>
    <p:extLst>
      <p:ext uri="{BB962C8B-B14F-4D97-AF65-F5344CB8AC3E}">
        <p14:creationId xmlns:p14="http://schemas.microsoft.com/office/powerpoint/2010/main" val="984437254"/>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9.jpe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hyperlink" Target="https://review.content-science.com/millennial-content-consumption-fact-sheet/#:~:text=Millennials%20are%20likely%20to%20connect,reading%20a%20social%20media%20review" TargetMode="External"/><Relationship Id="rId3" Type="http://schemas.openxmlformats.org/officeDocument/2006/relationships/hyperlink" Target="https://www.abs.gov.au/statistics/labour/earnings-and-working-conditions" TargetMode="External"/><Relationship Id="rId7" Type="http://schemas.openxmlformats.org/officeDocument/2006/relationships/hyperlink" Target="https://www.samsung.com/us/business/builder/industry-innovation/insights/millennial-homebuyers-remorse-what-designers-need-to-know/" TargetMode="External"/><Relationship Id="rId2" Type="http://schemas.openxmlformats.org/officeDocument/2006/relationships/hyperlink" Target="https://www.ahuri.edu.au/analysis/brief/when-are-australians-buying-their-first-home" TargetMode="External"/><Relationship Id="rId1" Type="http://schemas.openxmlformats.org/officeDocument/2006/relationships/slideLayout" Target="../slideLayouts/slideLayout2.xml"/><Relationship Id="rId6" Type="http://schemas.openxmlformats.org/officeDocument/2006/relationships/hyperlink" Target="https://www.comparethemarket.com.au/news/renovation-nation-52-of-homeowners-plan-to-spruce-up-their-digs-next-year/" TargetMode="External"/><Relationship Id="rId5" Type="http://schemas.openxmlformats.org/officeDocument/2006/relationships/hyperlink" Target="https://www.refreshrenovations.com.au/articles/biggest-renovation-fears-study" TargetMode="External"/><Relationship Id="rId4" Type="http://schemas.openxmlformats.org/officeDocument/2006/relationships/hyperlink" Target="https://www.aph.gov.au/About_Parliament/Parliamentary_departments/Parliamentary_Library/Research/Issues_and_Insights/48th_Parliament/Implicationsofdeclininghomeownership#:~:text=Since%20peaking%20at%2071%25%20in,from%2061%25%20to%2043%25" TargetMode="External"/><Relationship Id="rId9" Type="http://schemas.openxmlformats.org/officeDocument/2006/relationships/hyperlink" Target="https://media.sproutsocial.com/uploads/Sprout-Social-The-Digital-Natives-Report.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12" name="Freeform: Shape 11">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92CDF9DB-0197-8049-D71E-F17FF004A8FA}"/>
              </a:ext>
            </a:extLst>
          </p:cNvPr>
          <p:cNvSpPr>
            <a:spLocks noGrp="1"/>
          </p:cNvSpPr>
          <p:nvPr>
            <p:ph type="subTitle" idx="1"/>
          </p:nvPr>
        </p:nvSpPr>
        <p:spPr>
          <a:xfrm>
            <a:off x="482276" y="4422401"/>
            <a:ext cx="6974911" cy="1225364"/>
          </a:xfrm>
        </p:spPr>
        <p:txBody>
          <a:bodyPr>
            <a:normAutofit/>
          </a:bodyPr>
          <a:lstStyle/>
          <a:p>
            <a:r>
              <a:rPr lang="en-US" dirty="0">
                <a:solidFill>
                  <a:schemeClr val="tx1">
                    <a:lumMod val="85000"/>
                    <a:lumOff val="15000"/>
                  </a:schemeClr>
                </a:solidFill>
              </a:rPr>
              <a:t>Amplify digital presence and lead generation</a:t>
            </a:r>
          </a:p>
          <a:p>
            <a:endParaRPr lang="en-US" dirty="0">
              <a:solidFill>
                <a:schemeClr val="tx1">
                  <a:lumMod val="85000"/>
                  <a:lumOff val="15000"/>
                </a:schemeClr>
              </a:solidFill>
            </a:endParaRPr>
          </a:p>
          <a:p>
            <a:r>
              <a:rPr lang="en-US" sz="1400" dirty="0">
                <a:solidFill>
                  <a:schemeClr val="tx1">
                    <a:lumMod val="85000"/>
                    <a:lumOff val="15000"/>
                  </a:schemeClr>
                </a:solidFill>
              </a:rPr>
              <a:t>Martha Hayward and Zidane Khan</a:t>
            </a:r>
          </a:p>
        </p:txBody>
      </p:sp>
      <p:sp>
        <p:nvSpPr>
          <p:cNvPr id="2" name="Title 1">
            <a:extLst>
              <a:ext uri="{FF2B5EF4-FFF2-40B4-BE49-F238E27FC236}">
                <a16:creationId xmlns:a16="http://schemas.microsoft.com/office/drawing/2014/main" id="{B6EDE135-0BB3-A25E-B9AA-EAC6082B947A}"/>
              </a:ext>
            </a:extLst>
          </p:cNvPr>
          <p:cNvSpPr>
            <a:spLocks noGrp="1"/>
          </p:cNvSpPr>
          <p:nvPr>
            <p:ph type="ctrTitle"/>
          </p:nvPr>
        </p:nvSpPr>
        <p:spPr>
          <a:xfrm>
            <a:off x="482270" y="893638"/>
            <a:ext cx="6974915" cy="3329581"/>
          </a:xfrm>
        </p:spPr>
        <p:txBody>
          <a:bodyPr>
            <a:normAutofit fontScale="90000"/>
          </a:bodyPr>
          <a:lstStyle/>
          <a:p>
            <a:r>
              <a:rPr lang="en-US" dirty="0"/>
              <a:t>DCA LocalTasker Case Study</a:t>
            </a:r>
          </a:p>
        </p:txBody>
      </p:sp>
      <p:sp>
        <p:nvSpPr>
          <p:cNvPr id="14" name="Rectangle 13">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052" name="Picture 4" descr="LocalTasker | Ormond VIC">
            <a:extLst>
              <a:ext uri="{FF2B5EF4-FFF2-40B4-BE49-F238E27FC236}">
                <a16:creationId xmlns:a16="http://schemas.microsoft.com/office/drawing/2014/main" id="{A98924EA-950B-2062-267A-9010CFC7A0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0586" y="4299571"/>
            <a:ext cx="4140200" cy="196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839349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1012-7F67-04C4-E4FF-AC19EDA169D9}"/>
              </a:ext>
            </a:extLst>
          </p:cNvPr>
          <p:cNvSpPr>
            <a:spLocks noGrp="1"/>
          </p:cNvSpPr>
          <p:nvPr>
            <p:ph type="title"/>
          </p:nvPr>
        </p:nvSpPr>
        <p:spPr>
          <a:xfrm>
            <a:off x="106879" y="213567"/>
            <a:ext cx="10865922" cy="950444"/>
          </a:xfrm>
        </p:spPr>
        <p:txBody>
          <a:bodyPr/>
          <a:lstStyle/>
          <a:p>
            <a:r>
              <a:rPr lang="en-US" dirty="0"/>
              <a:t>Young homeowners and first-time renovators</a:t>
            </a:r>
            <a:br>
              <a:rPr lang="en-US" dirty="0"/>
            </a:br>
            <a:br>
              <a:rPr lang="en-US" dirty="0"/>
            </a:br>
            <a:endParaRPr lang="en-US" dirty="0"/>
          </a:p>
        </p:txBody>
      </p:sp>
      <p:pic>
        <p:nvPicPr>
          <p:cNvPr id="1026" name="Picture 2" descr="89,900+ New Home Owners Stock Photos, Pictures &amp; Royalty-Free Images -  iStock | Happy new home owners, New home owners outside, New home owners  family">
            <a:extLst>
              <a:ext uri="{FF2B5EF4-FFF2-40B4-BE49-F238E27FC236}">
                <a16:creationId xmlns:a16="http://schemas.microsoft.com/office/drawing/2014/main" id="{BB35EC26-777D-3629-810D-D432D1CD4D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834" t="5001" r="24036"/>
          <a:stretch>
            <a:fillRect/>
          </a:stretch>
        </p:blipFill>
        <p:spPr bwMode="auto">
          <a:xfrm>
            <a:off x="8483623" y="1335778"/>
            <a:ext cx="3269674" cy="24420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AE0E170-7ADE-11B9-2967-FC37DD10536B}"/>
              </a:ext>
            </a:extLst>
          </p:cNvPr>
          <p:cNvSpPr/>
          <p:nvPr/>
        </p:nvSpPr>
        <p:spPr>
          <a:xfrm>
            <a:off x="208103" y="2556803"/>
            <a:ext cx="2873829" cy="15323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Pain points:</a:t>
            </a:r>
          </a:p>
          <a:p>
            <a:pPr marL="285750" indent="-285750">
              <a:buFontTx/>
              <a:buChar char="-"/>
            </a:pPr>
            <a:r>
              <a:rPr lang="en-US" dirty="0"/>
              <a:t>Cost </a:t>
            </a:r>
            <a:r>
              <a:rPr lang="en-US" baseline="30000" dirty="0"/>
              <a:t>3,4</a:t>
            </a:r>
          </a:p>
          <a:p>
            <a:pPr marL="285750" indent="-285750">
              <a:buFontTx/>
              <a:buChar char="-"/>
            </a:pPr>
            <a:r>
              <a:rPr lang="en-US" dirty="0"/>
              <a:t>Quality </a:t>
            </a:r>
            <a:r>
              <a:rPr lang="en-US" baseline="30000" dirty="0"/>
              <a:t>4</a:t>
            </a:r>
          </a:p>
          <a:p>
            <a:pPr marL="285750" indent="-285750">
              <a:buFontTx/>
              <a:buChar char="-"/>
            </a:pPr>
            <a:r>
              <a:rPr lang="en-US" dirty="0"/>
              <a:t>Reliability</a:t>
            </a:r>
          </a:p>
        </p:txBody>
      </p:sp>
      <p:sp>
        <p:nvSpPr>
          <p:cNvPr id="4" name="TextBox 3">
            <a:extLst>
              <a:ext uri="{FF2B5EF4-FFF2-40B4-BE49-F238E27FC236}">
                <a16:creationId xmlns:a16="http://schemas.microsoft.com/office/drawing/2014/main" id="{9FBBC3D2-4A53-5692-4A89-87AF45ED28B8}"/>
              </a:ext>
            </a:extLst>
          </p:cNvPr>
          <p:cNvSpPr txBox="1"/>
          <p:nvPr/>
        </p:nvSpPr>
        <p:spPr>
          <a:xfrm>
            <a:off x="8483623" y="3966358"/>
            <a:ext cx="3331361" cy="646331"/>
          </a:xfrm>
          <a:prstGeom prst="rect">
            <a:avLst/>
          </a:prstGeom>
          <a:noFill/>
        </p:spPr>
        <p:txBody>
          <a:bodyPr wrap="none" rtlCol="0">
            <a:spAutoFit/>
          </a:bodyPr>
          <a:lstStyle/>
          <a:p>
            <a:r>
              <a:rPr lang="en-US" dirty="0"/>
              <a:t>Age: 25-40 years old</a:t>
            </a:r>
            <a:r>
              <a:rPr lang="en-US" baseline="30000" dirty="0"/>
              <a:t>1</a:t>
            </a:r>
          </a:p>
          <a:p>
            <a:r>
              <a:rPr lang="en-US" dirty="0"/>
              <a:t>Median household income</a:t>
            </a:r>
            <a:r>
              <a:rPr lang="en-US" baseline="30000" dirty="0"/>
              <a:t>2</a:t>
            </a:r>
          </a:p>
        </p:txBody>
      </p:sp>
      <p:pic>
        <p:nvPicPr>
          <p:cNvPr id="1028" name="Picture 4" descr="Unhappy bankrupt woman with empty wallet. young woman shows her empty wallet.  bankruptcy. | Premium Photo">
            <a:extLst>
              <a:ext uri="{FF2B5EF4-FFF2-40B4-BE49-F238E27FC236}">
                <a16:creationId xmlns:a16="http://schemas.microsoft.com/office/drawing/2014/main" id="{B623F810-0677-03A6-737E-686AAF4440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34" y="4324542"/>
            <a:ext cx="2728369" cy="18174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novation fears and concerns infographic">
            <a:extLst>
              <a:ext uri="{FF2B5EF4-FFF2-40B4-BE49-F238E27FC236}">
                <a16:creationId xmlns:a16="http://schemas.microsoft.com/office/drawing/2014/main" id="{59179078-6F59-628C-5BFA-C81EF2FD310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59477"/>
          <a:stretch>
            <a:fillRect/>
          </a:stretch>
        </p:blipFill>
        <p:spPr bwMode="auto">
          <a:xfrm>
            <a:off x="4184207" y="3307666"/>
            <a:ext cx="3759854" cy="314324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9B0514-9648-E7B6-FFFF-C4C53C6663BE}"/>
              </a:ext>
            </a:extLst>
          </p:cNvPr>
          <p:cNvSpPr/>
          <p:nvPr/>
        </p:nvSpPr>
        <p:spPr>
          <a:xfrm>
            <a:off x="9010097" y="4812045"/>
            <a:ext cx="2743200" cy="15323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Part of the 50% of Australian homeowners planning on minor renovations in the next year </a:t>
            </a:r>
            <a:r>
              <a:rPr lang="en-US" baseline="30000" dirty="0"/>
              <a:t>5</a:t>
            </a:r>
          </a:p>
        </p:txBody>
      </p:sp>
      <p:sp>
        <p:nvSpPr>
          <p:cNvPr id="7" name="Rectangle 6">
            <a:extLst>
              <a:ext uri="{FF2B5EF4-FFF2-40B4-BE49-F238E27FC236}">
                <a16:creationId xmlns:a16="http://schemas.microsoft.com/office/drawing/2014/main" id="{DFD61CD4-A833-F4AE-A60E-F3634486ECBE}"/>
              </a:ext>
            </a:extLst>
          </p:cNvPr>
          <p:cNvSpPr/>
          <p:nvPr/>
        </p:nvSpPr>
        <p:spPr>
          <a:xfrm>
            <a:off x="1380217" y="1757794"/>
            <a:ext cx="3729318" cy="6813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Time-poor and cost-conscious</a:t>
            </a:r>
          </a:p>
        </p:txBody>
      </p:sp>
      <p:sp>
        <p:nvSpPr>
          <p:cNvPr id="8" name="Rectangle 7">
            <a:extLst>
              <a:ext uri="{FF2B5EF4-FFF2-40B4-BE49-F238E27FC236}">
                <a16:creationId xmlns:a16="http://schemas.microsoft.com/office/drawing/2014/main" id="{F66D608A-B17D-0B93-726D-BA3DBD6B4791}"/>
              </a:ext>
            </a:extLst>
          </p:cNvPr>
          <p:cNvSpPr/>
          <p:nvPr/>
        </p:nvSpPr>
        <p:spPr>
          <a:xfrm>
            <a:off x="5342965" y="1479785"/>
            <a:ext cx="2743200" cy="15323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Part of the millennial generation looking for smart homes and appliances</a:t>
            </a:r>
            <a:r>
              <a:rPr lang="en-US" baseline="30000" dirty="0"/>
              <a:t>6</a:t>
            </a:r>
          </a:p>
        </p:txBody>
      </p:sp>
    </p:spTree>
    <p:extLst>
      <p:ext uri="{BB962C8B-B14F-4D97-AF65-F5344CB8AC3E}">
        <p14:creationId xmlns:p14="http://schemas.microsoft.com/office/powerpoint/2010/main" val="3812075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AEA09-24C8-996B-4684-C4D3EE7CC8BC}"/>
              </a:ext>
            </a:extLst>
          </p:cNvPr>
          <p:cNvSpPr>
            <a:spLocks noGrp="1"/>
          </p:cNvSpPr>
          <p:nvPr>
            <p:ph type="title"/>
          </p:nvPr>
        </p:nvSpPr>
        <p:spPr/>
        <p:txBody>
          <a:bodyPr/>
          <a:lstStyle/>
          <a:p>
            <a:r>
              <a:rPr lang="en-US" dirty="0"/>
              <a:t>Targeted advertisements</a:t>
            </a:r>
          </a:p>
        </p:txBody>
      </p:sp>
      <p:sp>
        <p:nvSpPr>
          <p:cNvPr id="3" name="Content Placeholder 2">
            <a:extLst>
              <a:ext uri="{FF2B5EF4-FFF2-40B4-BE49-F238E27FC236}">
                <a16:creationId xmlns:a16="http://schemas.microsoft.com/office/drawing/2014/main" id="{499A5623-0978-EBA2-E8B3-3F677B2AB7E2}"/>
              </a:ext>
            </a:extLst>
          </p:cNvPr>
          <p:cNvSpPr>
            <a:spLocks noGrp="1"/>
          </p:cNvSpPr>
          <p:nvPr>
            <p:ph idx="1"/>
          </p:nvPr>
        </p:nvSpPr>
        <p:spPr>
          <a:xfrm>
            <a:off x="507566" y="1998012"/>
            <a:ext cx="5588434" cy="4552034"/>
          </a:xfrm>
        </p:spPr>
        <p:txBody>
          <a:bodyPr>
            <a:normAutofit/>
          </a:bodyPr>
          <a:lstStyle/>
          <a:p>
            <a:r>
              <a:rPr lang="en-US" sz="2400" dirty="0"/>
              <a:t>Social media: Facebook and Instagram</a:t>
            </a:r>
            <a:r>
              <a:rPr lang="en-US" sz="2400" baseline="30000" dirty="0"/>
              <a:t>7</a:t>
            </a:r>
          </a:p>
          <a:p>
            <a:r>
              <a:rPr lang="en-US" sz="2400" dirty="0"/>
              <a:t>Targeting new homeowners and people </a:t>
            </a:r>
            <a:r>
              <a:rPr lang="en-US" sz="2400" dirty="0">
                <a:solidFill>
                  <a:srgbClr val="FFFFFF"/>
                </a:solidFill>
              </a:rPr>
              <a:t>Googling: “painting supply store near me”, “How much does it cost to renovate my kitchen” </a:t>
            </a:r>
            <a:endParaRPr lang="en-US" sz="2400" dirty="0"/>
          </a:p>
        </p:txBody>
      </p:sp>
      <p:pic>
        <p:nvPicPr>
          <p:cNvPr id="1026" name="Picture 2">
            <a:extLst>
              <a:ext uri="{FF2B5EF4-FFF2-40B4-BE49-F238E27FC236}">
                <a16:creationId xmlns:a16="http://schemas.microsoft.com/office/drawing/2014/main" id="{E10CA4B1-5C4F-2058-67B9-FC38B8FB5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6346" y="4274029"/>
            <a:ext cx="1978088" cy="19780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931A357-2B4A-4578-2AF0-DDB2A329AC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615020" y="4399833"/>
            <a:ext cx="1869858" cy="185228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82+ Thousand Millennial Female On Phone Royalty-Free Images, Stock Photos &amp;  Pictures | Shutterstock">
            <a:extLst>
              <a:ext uri="{FF2B5EF4-FFF2-40B4-BE49-F238E27FC236}">
                <a16:creationId xmlns:a16="http://schemas.microsoft.com/office/drawing/2014/main" id="{983BF08F-4CAC-D24D-1943-BFA9DF27DEF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0929"/>
          <a:stretch>
            <a:fillRect/>
          </a:stretch>
        </p:blipFill>
        <p:spPr bwMode="auto">
          <a:xfrm>
            <a:off x="6436592" y="1315699"/>
            <a:ext cx="4096571" cy="2595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0745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54EF5-13BB-267C-DD0A-655707505854}"/>
              </a:ext>
            </a:extLst>
          </p:cNvPr>
          <p:cNvSpPr>
            <a:spLocks noGrp="1"/>
          </p:cNvSpPr>
          <p:nvPr>
            <p:ph type="title"/>
          </p:nvPr>
        </p:nvSpPr>
        <p:spPr/>
        <p:txBody>
          <a:bodyPr/>
          <a:lstStyle/>
          <a:p>
            <a:r>
              <a:rPr lang="en-US" dirty="0"/>
              <a:t>Business partnerships</a:t>
            </a:r>
          </a:p>
        </p:txBody>
      </p:sp>
      <p:sp>
        <p:nvSpPr>
          <p:cNvPr id="3" name="Content Placeholder 2">
            <a:extLst>
              <a:ext uri="{FF2B5EF4-FFF2-40B4-BE49-F238E27FC236}">
                <a16:creationId xmlns:a16="http://schemas.microsoft.com/office/drawing/2014/main" id="{350FD03C-CB79-AE23-98E0-8CFE6FE40427}"/>
              </a:ext>
            </a:extLst>
          </p:cNvPr>
          <p:cNvSpPr>
            <a:spLocks noGrp="1"/>
          </p:cNvSpPr>
          <p:nvPr>
            <p:ph idx="1"/>
          </p:nvPr>
        </p:nvSpPr>
        <p:spPr>
          <a:xfrm>
            <a:off x="322727" y="1550868"/>
            <a:ext cx="4805083" cy="5002306"/>
          </a:xfrm>
        </p:spPr>
        <p:txBody>
          <a:bodyPr>
            <a:normAutofit/>
          </a:bodyPr>
          <a:lstStyle/>
          <a:p>
            <a:r>
              <a:rPr lang="en-US" dirty="0"/>
              <a:t>Collaborations with appliance stores/manufacturers. </a:t>
            </a:r>
          </a:p>
          <a:p>
            <a:pPr lvl="1"/>
            <a:r>
              <a:rPr lang="en-US" dirty="0"/>
              <a:t>Hardware items could be sold with stickers on it, saying ‘Free Installation’ from </a:t>
            </a:r>
            <a:r>
              <a:rPr lang="en-US" dirty="0" err="1"/>
              <a:t>LocalTasker</a:t>
            </a:r>
            <a:endParaRPr lang="en-US" dirty="0"/>
          </a:p>
          <a:p>
            <a:pPr lvl="1"/>
            <a:r>
              <a:rPr lang="en-US" dirty="0"/>
              <a:t>Mutually beneficial agreement to be struck on the management level with the hardware company.</a:t>
            </a:r>
          </a:p>
          <a:p>
            <a:r>
              <a:rPr lang="en-US" dirty="0"/>
              <a:t>Partnerships with developers and property managers, who advise clients to go to </a:t>
            </a:r>
            <a:r>
              <a:rPr lang="en-US" dirty="0" err="1"/>
              <a:t>LocalTasker</a:t>
            </a:r>
            <a:r>
              <a:rPr lang="en-US" dirty="0"/>
              <a:t> for their maintenance needs</a:t>
            </a:r>
          </a:p>
        </p:txBody>
      </p:sp>
      <p:pic>
        <p:nvPicPr>
          <p:cNvPr id="2050" name="Picture 2" descr="Bathroom Showrooms Melbourne - Highgrove Bathrooms">
            <a:extLst>
              <a:ext uri="{FF2B5EF4-FFF2-40B4-BE49-F238E27FC236}">
                <a16:creationId xmlns:a16="http://schemas.microsoft.com/office/drawing/2014/main" id="{E34F5D79-B176-A016-BFA8-3D4236CB8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9365" y="1479176"/>
            <a:ext cx="6119906" cy="458992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rice tag PNG transparent image download, size: 512x512px">
            <a:extLst>
              <a:ext uri="{FF2B5EF4-FFF2-40B4-BE49-F238E27FC236}">
                <a16:creationId xmlns:a16="http://schemas.microsoft.com/office/drawing/2014/main" id="{C4497B69-2BA5-7798-F49D-CBFD73D21E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802767">
            <a:off x="5880114" y="-1059724"/>
            <a:ext cx="4714875" cy="73528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1200ABC-C1A3-C5E0-D150-FA4F336E9FE5}"/>
              </a:ext>
            </a:extLst>
          </p:cNvPr>
          <p:cNvSpPr txBox="1"/>
          <p:nvPr/>
        </p:nvSpPr>
        <p:spPr>
          <a:xfrm rot="19370958">
            <a:off x="5700655" y="2001263"/>
            <a:ext cx="3777334" cy="2238113"/>
          </a:xfrm>
          <a:prstGeom prst="rect">
            <a:avLst/>
          </a:prstGeom>
          <a:noFill/>
        </p:spPr>
        <p:txBody>
          <a:bodyPr wrap="square" rtlCol="0">
            <a:spAutoFit/>
          </a:bodyPr>
          <a:lstStyle/>
          <a:p>
            <a:pPr>
              <a:lnSpc>
                <a:spcPct val="150000"/>
              </a:lnSpc>
            </a:pPr>
            <a:r>
              <a:rPr lang="en-US" sz="2400" dirty="0"/>
              <a:t>Buy today and receive complementary installation from a </a:t>
            </a:r>
            <a:r>
              <a:rPr lang="en-US" sz="2400" dirty="0" err="1"/>
              <a:t>LocalTasker</a:t>
            </a:r>
            <a:r>
              <a:rPr lang="en-US" sz="2400" dirty="0"/>
              <a:t>  expert!</a:t>
            </a:r>
          </a:p>
        </p:txBody>
      </p:sp>
      <p:pic>
        <p:nvPicPr>
          <p:cNvPr id="2054" name="Picture 6" descr="LocalTasker | Ormond VIC">
            <a:extLst>
              <a:ext uri="{FF2B5EF4-FFF2-40B4-BE49-F238E27FC236}">
                <a16:creationId xmlns:a16="http://schemas.microsoft.com/office/drawing/2014/main" id="{C3A865B6-8596-C255-342E-83093509391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612" t="36110" r="4529" b="35449"/>
          <a:stretch>
            <a:fillRect/>
          </a:stretch>
        </p:blipFill>
        <p:spPr bwMode="auto">
          <a:xfrm rot="19350919">
            <a:off x="6333039" y="4259468"/>
            <a:ext cx="2047707" cy="301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658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CE239-B447-C1FE-D397-ED4FEB1D336A}"/>
              </a:ext>
            </a:extLst>
          </p:cNvPr>
          <p:cNvSpPr>
            <a:spLocks noGrp="1"/>
          </p:cNvSpPr>
          <p:nvPr>
            <p:ph type="title"/>
          </p:nvPr>
        </p:nvSpPr>
        <p:spPr/>
        <p:txBody>
          <a:bodyPr/>
          <a:lstStyle/>
          <a:p>
            <a:r>
              <a:rPr lang="en-US" dirty="0"/>
              <a:t>Enhancements to app/website</a:t>
            </a:r>
          </a:p>
        </p:txBody>
      </p:sp>
      <p:sp>
        <p:nvSpPr>
          <p:cNvPr id="3" name="Content Placeholder 2">
            <a:extLst>
              <a:ext uri="{FF2B5EF4-FFF2-40B4-BE49-F238E27FC236}">
                <a16:creationId xmlns:a16="http://schemas.microsoft.com/office/drawing/2014/main" id="{19B9B797-09F1-ABA5-C1E2-648DB4A427FE}"/>
              </a:ext>
            </a:extLst>
          </p:cNvPr>
          <p:cNvSpPr>
            <a:spLocks noGrp="1"/>
          </p:cNvSpPr>
          <p:nvPr>
            <p:ph idx="1"/>
          </p:nvPr>
        </p:nvSpPr>
        <p:spPr>
          <a:xfrm>
            <a:off x="231495" y="1438875"/>
            <a:ext cx="11314394" cy="5419125"/>
          </a:xfrm>
        </p:spPr>
        <p:txBody>
          <a:bodyPr vert="horz" lIns="91440" tIns="45720" rIns="91440" bIns="45720" rtlCol="0" anchor="t">
            <a:noAutofit/>
          </a:bodyPr>
          <a:lstStyle/>
          <a:p>
            <a:pPr>
              <a:buClr>
                <a:srgbClr val="8AD0D6"/>
              </a:buClr>
            </a:pPr>
            <a:r>
              <a:rPr lang="en-US" sz="1800" dirty="0">
                <a:ea typeface="+mj-lt"/>
                <a:cs typeface="+mj-lt"/>
              </a:rPr>
              <a:t>Personalization</a:t>
            </a:r>
          </a:p>
          <a:p>
            <a:pPr lvl="1">
              <a:buClr>
                <a:srgbClr val="8AD0D6"/>
              </a:buClr>
            </a:pPr>
            <a:r>
              <a:rPr lang="en-US" dirty="0">
                <a:ea typeface="+mj-lt"/>
                <a:cs typeface="+mj-lt"/>
              </a:rPr>
              <a:t>Location-based service filtering so users see contractors closest to them.</a:t>
            </a:r>
          </a:p>
          <a:p>
            <a:pPr lvl="1">
              <a:buClr>
                <a:srgbClr val="8AD0D6"/>
              </a:buClr>
            </a:pPr>
            <a:r>
              <a:rPr lang="en-US" dirty="0">
                <a:ea typeface="+mj-lt"/>
                <a:cs typeface="+mj-lt"/>
              </a:rPr>
              <a:t>AI chatbot for simple questions</a:t>
            </a:r>
          </a:p>
          <a:p>
            <a:pPr>
              <a:buClr>
                <a:srgbClr val="8AD0D6"/>
              </a:buClr>
            </a:pPr>
            <a:r>
              <a:rPr lang="en-US" sz="1800" dirty="0">
                <a:ea typeface="+mj-lt"/>
                <a:cs typeface="+mj-lt"/>
              </a:rPr>
              <a:t>Ratings, reviews, and profiles</a:t>
            </a:r>
          </a:p>
          <a:p>
            <a:pPr lvl="1">
              <a:buClr>
                <a:srgbClr val="8AD0D6"/>
              </a:buClr>
            </a:pPr>
            <a:r>
              <a:rPr lang="en-US" dirty="0">
                <a:ea typeface="+mj-lt"/>
                <a:cs typeface="+mj-lt"/>
              </a:rPr>
              <a:t>90% of millennials are more inclined to purchase from a brand with verified reviews</a:t>
            </a:r>
            <a:r>
              <a:rPr lang="en-US" baseline="30000" dirty="0">
                <a:ea typeface="+mj-lt"/>
                <a:cs typeface="+mj-lt"/>
              </a:rPr>
              <a:t>8</a:t>
            </a:r>
          </a:p>
          <a:p>
            <a:pPr lvl="1">
              <a:buClr>
                <a:srgbClr val="8AD0D6"/>
              </a:buClr>
            </a:pPr>
            <a:r>
              <a:rPr lang="en-US" dirty="0"/>
              <a:t>Customer testimonials</a:t>
            </a:r>
          </a:p>
          <a:p>
            <a:pPr lvl="1">
              <a:buClr>
                <a:srgbClr val="8AD0D6"/>
              </a:buClr>
            </a:pPr>
            <a:r>
              <a:rPr lang="en-US" dirty="0"/>
              <a:t>Portfolio of the contractor’s work</a:t>
            </a:r>
          </a:p>
          <a:p>
            <a:pPr lvl="1">
              <a:buClr>
                <a:srgbClr val="8AD0D6"/>
              </a:buClr>
            </a:pPr>
            <a:r>
              <a:rPr lang="en-US" dirty="0"/>
              <a:t>Price transparency/estimate on profiles</a:t>
            </a:r>
          </a:p>
          <a:p>
            <a:pPr lvl="1">
              <a:buClr>
                <a:srgbClr val="8AD0D6"/>
              </a:buClr>
            </a:pPr>
            <a:r>
              <a:rPr lang="en-US" dirty="0"/>
              <a:t>Verified contractor and customer profiles</a:t>
            </a:r>
          </a:p>
          <a:p>
            <a:pPr>
              <a:buClr>
                <a:srgbClr val="8AD0D6"/>
              </a:buClr>
            </a:pPr>
            <a:r>
              <a:rPr lang="en-US" sz="1800" dirty="0">
                <a:ea typeface="+mj-lt"/>
                <a:cs typeface="+mj-lt"/>
              </a:rPr>
              <a:t>Extra features</a:t>
            </a:r>
          </a:p>
          <a:p>
            <a:pPr lvl="1">
              <a:buClr>
                <a:srgbClr val="8AD0D6"/>
              </a:buClr>
            </a:pPr>
            <a:r>
              <a:rPr lang="en-US" dirty="0">
                <a:ea typeface="+mj-lt"/>
                <a:cs typeface="+mj-lt"/>
              </a:rPr>
              <a:t>Auto translate feature</a:t>
            </a:r>
          </a:p>
          <a:p>
            <a:pPr lvl="1">
              <a:buClr>
                <a:srgbClr val="8AD0D6"/>
              </a:buClr>
            </a:pPr>
            <a:r>
              <a:rPr lang="en-US" dirty="0">
                <a:ea typeface="+mj-lt"/>
                <a:cs typeface="+mj-lt"/>
              </a:rPr>
              <a:t>One-click booking and real-time task updates (ex, “Tasker on the way,” status notifications)</a:t>
            </a:r>
          </a:p>
        </p:txBody>
      </p:sp>
    </p:spTree>
    <p:extLst>
      <p:ext uri="{BB962C8B-B14F-4D97-AF65-F5344CB8AC3E}">
        <p14:creationId xmlns:p14="http://schemas.microsoft.com/office/powerpoint/2010/main" val="1131689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rapezoid 1">
            <a:extLst>
              <a:ext uri="{FF2B5EF4-FFF2-40B4-BE49-F238E27FC236}">
                <a16:creationId xmlns:a16="http://schemas.microsoft.com/office/drawing/2014/main" id="{71C971DE-4CC2-556F-D559-375FE2D41B6A}"/>
              </a:ext>
            </a:extLst>
          </p:cNvPr>
          <p:cNvSpPr/>
          <p:nvPr/>
        </p:nvSpPr>
        <p:spPr>
          <a:xfrm flipV="1">
            <a:off x="4315649" y="591669"/>
            <a:ext cx="5760681" cy="1021978"/>
          </a:xfrm>
          <a:prstGeom prst="trapezoi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rapezoid 2">
            <a:extLst>
              <a:ext uri="{FF2B5EF4-FFF2-40B4-BE49-F238E27FC236}">
                <a16:creationId xmlns:a16="http://schemas.microsoft.com/office/drawing/2014/main" id="{3EA81289-3CAF-092A-A4B9-937A6CBB45EB}"/>
              </a:ext>
            </a:extLst>
          </p:cNvPr>
          <p:cNvSpPr/>
          <p:nvPr/>
        </p:nvSpPr>
        <p:spPr>
          <a:xfrm flipV="1">
            <a:off x="4572001" y="1613645"/>
            <a:ext cx="5253318" cy="1021979"/>
          </a:xfrm>
          <a:prstGeom prst="trapezoid">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rapezoid 3">
            <a:extLst>
              <a:ext uri="{FF2B5EF4-FFF2-40B4-BE49-F238E27FC236}">
                <a16:creationId xmlns:a16="http://schemas.microsoft.com/office/drawing/2014/main" id="{07218D7C-B202-B2DF-41B8-8DFFF1E2A19D}"/>
              </a:ext>
            </a:extLst>
          </p:cNvPr>
          <p:cNvSpPr/>
          <p:nvPr/>
        </p:nvSpPr>
        <p:spPr>
          <a:xfrm flipV="1">
            <a:off x="4823012" y="2635620"/>
            <a:ext cx="4751293" cy="1048875"/>
          </a:xfrm>
          <a:prstGeom prst="trapezoid">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rapezoid 4">
            <a:extLst>
              <a:ext uri="{FF2B5EF4-FFF2-40B4-BE49-F238E27FC236}">
                <a16:creationId xmlns:a16="http://schemas.microsoft.com/office/drawing/2014/main" id="{3B07D21B-4482-795C-6860-2902008295E1}"/>
              </a:ext>
            </a:extLst>
          </p:cNvPr>
          <p:cNvSpPr/>
          <p:nvPr/>
        </p:nvSpPr>
        <p:spPr>
          <a:xfrm flipV="1">
            <a:off x="5074023" y="3684494"/>
            <a:ext cx="4249271" cy="1048875"/>
          </a:xfrm>
          <a:prstGeom prst="trapezoid">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FA21914A-4855-EFB7-591F-5246168FA99B}"/>
              </a:ext>
            </a:extLst>
          </p:cNvPr>
          <p:cNvSpPr/>
          <p:nvPr/>
        </p:nvSpPr>
        <p:spPr>
          <a:xfrm rot="10800000">
            <a:off x="5342964" y="4733369"/>
            <a:ext cx="3729316" cy="1532962"/>
          </a:xfrm>
          <a:prstGeom prst="triangle">
            <a:avLst>
              <a:gd name="adj" fmla="val 50935"/>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4EA7CFEC-36F3-D047-7F52-E14374A36C6A}"/>
              </a:ext>
            </a:extLst>
          </p:cNvPr>
          <p:cNvSpPr txBox="1">
            <a:spLocks/>
          </p:cNvSpPr>
          <p:nvPr/>
        </p:nvSpPr>
        <p:spPr>
          <a:xfrm>
            <a:off x="405491" y="291497"/>
            <a:ext cx="4166510" cy="1622321"/>
          </a:xfrm>
          <a:prstGeom prst="rect">
            <a:avLst/>
          </a:prstGeom>
        </p:spPr>
        <p:txBody>
          <a:bodyPr>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solidFill>
                  <a:srgbClr val="EBEBEB"/>
                </a:solidFill>
              </a:rPr>
              <a:t>Conversion funnel</a:t>
            </a:r>
            <a:endParaRPr lang="en-US" dirty="0">
              <a:solidFill>
                <a:srgbClr val="EBEBEB"/>
              </a:solidFill>
            </a:endParaRPr>
          </a:p>
        </p:txBody>
      </p:sp>
      <p:sp>
        <p:nvSpPr>
          <p:cNvPr id="10" name="TextBox 9">
            <a:extLst>
              <a:ext uri="{FF2B5EF4-FFF2-40B4-BE49-F238E27FC236}">
                <a16:creationId xmlns:a16="http://schemas.microsoft.com/office/drawing/2014/main" id="{9EBC2AD7-9292-2BFE-F585-1DE40470CC9B}"/>
              </a:ext>
            </a:extLst>
          </p:cNvPr>
          <p:cNvSpPr txBox="1"/>
          <p:nvPr/>
        </p:nvSpPr>
        <p:spPr>
          <a:xfrm>
            <a:off x="4327281" y="993881"/>
            <a:ext cx="5760681" cy="3831818"/>
          </a:xfrm>
          <a:prstGeom prst="rect">
            <a:avLst/>
          </a:prstGeom>
          <a:noFill/>
        </p:spPr>
        <p:txBody>
          <a:bodyPr wrap="square">
            <a:spAutoFit/>
          </a:bodyPr>
          <a:lstStyle/>
          <a:p>
            <a:pPr algn="ctr">
              <a:lnSpc>
                <a:spcPct val="90000"/>
              </a:lnSpc>
            </a:pPr>
            <a:r>
              <a:rPr lang="en-US" sz="1800" dirty="0">
                <a:solidFill>
                  <a:schemeClr val="bg1"/>
                </a:solidFill>
                <a:ea typeface="+mj-lt"/>
                <a:cs typeface="+mj-lt"/>
              </a:rPr>
              <a:t>Targeted Ads, Social Media, Partnerships</a:t>
            </a:r>
            <a:endParaRPr lang="en-US" sz="1800" dirty="0">
              <a:solidFill>
                <a:schemeClr val="bg1"/>
              </a:solidFill>
            </a:endParaRPr>
          </a:p>
          <a:p>
            <a:pPr algn="ctr">
              <a:lnSpc>
                <a:spcPct val="90000"/>
              </a:lnSpc>
              <a:buClr>
                <a:srgbClr val="8AD0D6"/>
              </a:buClr>
            </a:pPr>
            <a:endParaRPr lang="en-US" sz="1800" dirty="0">
              <a:solidFill>
                <a:schemeClr val="bg1"/>
              </a:solidFill>
            </a:endParaRPr>
          </a:p>
          <a:p>
            <a:pPr algn="ctr">
              <a:lnSpc>
                <a:spcPct val="90000"/>
              </a:lnSpc>
              <a:buClr>
                <a:srgbClr val="8AD0D6"/>
              </a:buClr>
            </a:pPr>
            <a:endParaRPr lang="en-US" sz="1800" dirty="0">
              <a:solidFill>
                <a:schemeClr val="bg1"/>
              </a:solidFill>
            </a:endParaRPr>
          </a:p>
          <a:p>
            <a:pPr algn="ctr">
              <a:lnSpc>
                <a:spcPct val="90000"/>
              </a:lnSpc>
              <a:buClr>
                <a:srgbClr val="8AD0D6"/>
              </a:buClr>
            </a:pPr>
            <a:endParaRPr lang="en-US" sz="1800" dirty="0">
              <a:solidFill>
                <a:schemeClr val="bg1"/>
              </a:solidFill>
            </a:endParaRPr>
          </a:p>
          <a:p>
            <a:pPr algn="ctr">
              <a:lnSpc>
                <a:spcPct val="90000"/>
              </a:lnSpc>
              <a:buClr>
                <a:srgbClr val="8AD0D6"/>
              </a:buClr>
            </a:pPr>
            <a:r>
              <a:rPr lang="en-US" sz="1800" dirty="0">
                <a:solidFill>
                  <a:schemeClr val="bg1"/>
                </a:solidFill>
                <a:ea typeface="+mj-lt"/>
                <a:cs typeface="+mj-lt"/>
              </a:rPr>
              <a:t>Website Visit, App Browse, Reviews</a:t>
            </a:r>
            <a:endParaRPr lang="en-US" sz="1800" dirty="0">
              <a:solidFill>
                <a:schemeClr val="bg1"/>
              </a:solidFill>
            </a:endParaRPr>
          </a:p>
          <a:p>
            <a:pPr algn="ctr">
              <a:lnSpc>
                <a:spcPct val="90000"/>
              </a:lnSpc>
              <a:buClr>
                <a:srgbClr val="8AD0D6"/>
              </a:buClr>
            </a:pPr>
            <a:endParaRPr lang="en-US" sz="1800" dirty="0">
              <a:solidFill>
                <a:schemeClr val="bg1"/>
              </a:solidFill>
            </a:endParaRPr>
          </a:p>
          <a:p>
            <a:pPr algn="ctr">
              <a:lnSpc>
                <a:spcPct val="90000"/>
              </a:lnSpc>
              <a:buClr>
                <a:srgbClr val="8AD0D6"/>
              </a:buClr>
            </a:pPr>
            <a:endParaRPr lang="en-US" sz="1800" dirty="0">
              <a:solidFill>
                <a:schemeClr val="bg1"/>
              </a:solidFill>
            </a:endParaRPr>
          </a:p>
          <a:p>
            <a:pPr algn="ctr">
              <a:lnSpc>
                <a:spcPct val="90000"/>
              </a:lnSpc>
              <a:buClr>
                <a:srgbClr val="8AD0D6"/>
              </a:buClr>
            </a:pPr>
            <a:endParaRPr lang="en-US" sz="1800" dirty="0">
              <a:solidFill>
                <a:schemeClr val="bg1"/>
              </a:solidFill>
            </a:endParaRPr>
          </a:p>
          <a:p>
            <a:pPr algn="ctr">
              <a:lnSpc>
                <a:spcPct val="90000"/>
              </a:lnSpc>
              <a:buClr>
                <a:srgbClr val="8AD0D6"/>
              </a:buClr>
            </a:pPr>
            <a:r>
              <a:rPr lang="en-US" sz="1800" dirty="0">
                <a:solidFill>
                  <a:schemeClr val="bg1"/>
                </a:solidFill>
                <a:ea typeface="+mj-lt"/>
                <a:cs typeface="+mj-lt"/>
              </a:rPr>
              <a:t>Quote, Info, “Book Now”</a:t>
            </a:r>
            <a:endParaRPr lang="en-US" sz="1800" dirty="0">
              <a:solidFill>
                <a:schemeClr val="bg1"/>
              </a:solidFill>
            </a:endParaRPr>
          </a:p>
          <a:p>
            <a:pPr algn="ctr">
              <a:lnSpc>
                <a:spcPct val="90000"/>
              </a:lnSpc>
              <a:buClr>
                <a:srgbClr val="8AD0D6"/>
              </a:buClr>
            </a:pPr>
            <a:endParaRPr lang="en-US" sz="1800" dirty="0">
              <a:solidFill>
                <a:schemeClr val="bg1"/>
              </a:solidFill>
            </a:endParaRPr>
          </a:p>
          <a:p>
            <a:pPr algn="ctr">
              <a:lnSpc>
                <a:spcPct val="90000"/>
              </a:lnSpc>
              <a:buClr>
                <a:srgbClr val="8AD0D6"/>
              </a:buClr>
            </a:pPr>
            <a:endParaRPr lang="en-US" sz="1800" dirty="0">
              <a:solidFill>
                <a:schemeClr val="bg1"/>
              </a:solidFill>
            </a:endParaRPr>
          </a:p>
          <a:p>
            <a:pPr algn="ctr">
              <a:lnSpc>
                <a:spcPct val="90000"/>
              </a:lnSpc>
              <a:buClr>
                <a:srgbClr val="8AD0D6"/>
              </a:buClr>
            </a:pPr>
            <a:endParaRPr lang="en-US" sz="1800" dirty="0">
              <a:solidFill>
                <a:schemeClr val="bg1"/>
              </a:solidFill>
            </a:endParaRPr>
          </a:p>
          <a:p>
            <a:pPr algn="ctr">
              <a:lnSpc>
                <a:spcPct val="90000"/>
              </a:lnSpc>
              <a:buClr>
                <a:srgbClr val="8AD0D6"/>
              </a:buClr>
            </a:pPr>
            <a:r>
              <a:rPr lang="en-US" sz="1800" dirty="0">
                <a:solidFill>
                  <a:schemeClr val="bg1"/>
                </a:solidFill>
                <a:ea typeface="+mj-lt"/>
                <a:cs typeface="+mj-lt"/>
              </a:rPr>
              <a:t>Fast Checkout, Payment</a:t>
            </a:r>
            <a:endParaRPr lang="en-US" sz="1800" dirty="0">
              <a:solidFill>
                <a:schemeClr val="bg1"/>
              </a:solidFill>
            </a:endParaRPr>
          </a:p>
          <a:p>
            <a:pPr algn="ctr">
              <a:lnSpc>
                <a:spcPct val="90000"/>
              </a:lnSpc>
              <a:buClr>
                <a:srgbClr val="8AD0D6"/>
              </a:buClr>
            </a:pPr>
            <a:endParaRPr lang="en-US" sz="1800" dirty="0">
              <a:solidFill>
                <a:schemeClr val="bg1"/>
              </a:solidFill>
            </a:endParaRPr>
          </a:p>
          <a:p>
            <a:pPr algn="ctr">
              <a:lnSpc>
                <a:spcPct val="90000"/>
              </a:lnSpc>
              <a:buClr>
                <a:srgbClr val="8AD0D6"/>
              </a:buClr>
            </a:pPr>
            <a:endParaRPr lang="en-US" sz="1800" dirty="0">
              <a:solidFill>
                <a:schemeClr val="bg1"/>
              </a:solidFill>
            </a:endParaRPr>
          </a:p>
        </p:txBody>
      </p:sp>
      <p:sp>
        <p:nvSpPr>
          <p:cNvPr id="12" name="TextBox 11">
            <a:extLst>
              <a:ext uri="{FF2B5EF4-FFF2-40B4-BE49-F238E27FC236}">
                <a16:creationId xmlns:a16="http://schemas.microsoft.com/office/drawing/2014/main" id="{05CBE11E-908D-E33F-E02A-BD31C353FD40}"/>
              </a:ext>
            </a:extLst>
          </p:cNvPr>
          <p:cNvSpPr txBox="1"/>
          <p:nvPr/>
        </p:nvSpPr>
        <p:spPr>
          <a:xfrm>
            <a:off x="5769786" y="4733369"/>
            <a:ext cx="2852406" cy="1200329"/>
          </a:xfrm>
          <a:prstGeom prst="rect">
            <a:avLst/>
          </a:prstGeom>
          <a:noFill/>
        </p:spPr>
        <p:txBody>
          <a:bodyPr wrap="square" rtlCol="0">
            <a:spAutoFit/>
          </a:bodyPr>
          <a:lstStyle/>
          <a:p>
            <a:pPr algn="ctr"/>
            <a:r>
              <a:rPr lang="en-US" dirty="0">
                <a:solidFill>
                  <a:schemeClr val="bg1"/>
                </a:solidFill>
                <a:ea typeface="+mj-lt"/>
                <a:cs typeface="+mj-lt"/>
              </a:rPr>
              <a:t>Reviews, Loyalty Programs, Rebooking Reminders</a:t>
            </a:r>
            <a:endParaRPr lang="en-US" dirty="0">
              <a:solidFill>
                <a:schemeClr val="bg1"/>
              </a:solidFill>
            </a:endParaRPr>
          </a:p>
          <a:p>
            <a:endParaRPr lang="en-US" dirty="0"/>
          </a:p>
        </p:txBody>
      </p:sp>
      <p:sp>
        <p:nvSpPr>
          <p:cNvPr id="13" name="TextBox 12">
            <a:extLst>
              <a:ext uri="{FF2B5EF4-FFF2-40B4-BE49-F238E27FC236}">
                <a16:creationId xmlns:a16="http://schemas.microsoft.com/office/drawing/2014/main" id="{AD17D7CD-53A1-7411-33A2-F33CEDEE0AC0}"/>
              </a:ext>
            </a:extLst>
          </p:cNvPr>
          <p:cNvSpPr txBox="1"/>
          <p:nvPr/>
        </p:nvSpPr>
        <p:spPr>
          <a:xfrm>
            <a:off x="4443081" y="5244355"/>
            <a:ext cx="1261884" cy="369332"/>
          </a:xfrm>
          <a:prstGeom prst="rect">
            <a:avLst/>
          </a:prstGeom>
          <a:noFill/>
        </p:spPr>
        <p:txBody>
          <a:bodyPr wrap="none" rtlCol="0">
            <a:spAutoFit/>
          </a:bodyPr>
          <a:lstStyle/>
          <a:p>
            <a:r>
              <a:rPr lang="en-US" dirty="0"/>
              <a:t>Retention</a:t>
            </a:r>
          </a:p>
        </p:txBody>
      </p:sp>
      <p:sp>
        <p:nvSpPr>
          <p:cNvPr id="14" name="TextBox 13">
            <a:extLst>
              <a:ext uri="{FF2B5EF4-FFF2-40B4-BE49-F238E27FC236}">
                <a16:creationId xmlns:a16="http://schemas.microsoft.com/office/drawing/2014/main" id="{37763247-2B74-BDB6-28BC-3D85838FC9C5}"/>
              </a:ext>
            </a:extLst>
          </p:cNvPr>
          <p:cNvSpPr txBox="1"/>
          <p:nvPr/>
        </p:nvSpPr>
        <p:spPr>
          <a:xfrm>
            <a:off x="4134724" y="4037711"/>
            <a:ext cx="922047" cy="369332"/>
          </a:xfrm>
          <a:prstGeom prst="rect">
            <a:avLst/>
          </a:prstGeom>
          <a:noFill/>
        </p:spPr>
        <p:txBody>
          <a:bodyPr wrap="none" rtlCol="0">
            <a:spAutoFit/>
          </a:bodyPr>
          <a:lstStyle/>
          <a:p>
            <a:r>
              <a:rPr lang="en-US" dirty="0"/>
              <a:t>Action</a:t>
            </a:r>
          </a:p>
        </p:txBody>
      </p:sp>
      <p:sp>
        <p:nvSpPr>
          <p:cNvPr id="15" name="TextBox 14">
            <a:extLst>
              <a:ext uri="{FF2B5EF4-FFF2-40B4-BE49-F238E27FC236}">
                <a16:creationId xmlns:a16="http://schemas.microsoft.com/office/drawing/2014/main" id="{AA072037-92C8-CF1D-D373-5DDA33A85806}"/>
              </a:ext>
            </a:extLst>
          </p:cNvPr>
          <p:cNvSpPr txBox="1"/>
          <p:nvPr/>
        </p:nvSpPr>
        <p:spPr>
          <a:xfrm>
            <a:off x="3671262" y="2941359"/>
            <a:ext cx="1130438" cy="369332"/>
          </a:xfrm>
          <a:prstGeom prst="rect">
            <a:avLst/>
          </a:prstGeom>
          <a:noFill/>
        </p:spPr>
        <p:txBody>
          <a:bodyPr wrap="none" rtlCol="0">
            <a:spAutoFit/>
          </a:bodyPr>
          <a:lstStyle/>
          <a:p>
            <a:r>
              <a:rPr lang="en-US" dirty="0"/>
              <a:t>Decision</a:t>
            </a:r>
          </a:p>
        </p:txBody>
      </p:sp>
      <p:sp>
        <p:nvSpPr>
          <p:cNvPr id="16" name="TextBox 15">
            <a:extLst>
              <a:ext uri="{FF2B5EF4-FFF2-40B4-BE49-F238E27FC236}">
                <a16:creationId xmlns:a16="http://schemas.microsoft.com/office/drawing/2014/main" id="{2FE3E287-4AA2-B992-C0FE-22AEC20846A3}"/>
              </a:ext>
            </a:extLst>
          </p:cNvPr>
          <p:cNvSpPr txBox="1"/>
          <p:nvPr/>
        </p:nvSpPr>
        <p:spPr>
          <a:xfrm>
            <a:off x="2819598" y="1953416"/>
            <a:ext cx="1752403" cy="369332"/>
          </a:xfrm>
          <a:prstGeom prst="rect">
            <a:avLst/>
          </a:prstGeom>
          <a:noFill/>
        </p:spPr>
        <p:txBody>
          <a:bodyPr wrap="none" rtlCol="0">
            <a:spAutoFit/>
          </a:bodyPr>
          <a:lstStyle/>
          <a:p>
            <a:r>
              <a:rPr lang="en-US" dirty="0"/>
              <a:t>Consideration</a:t>
            </a:r>
          </a:p>
        </p:txBody>
      </p:sp>
      <p:sp>
        <p:nvSpPr>
          <p:cNvPr id="17" name="TextBox 16">
            <a:extLst>
              <a:ext uri="{FF2B5EF4-FFF2-40B4-BE49-F238E27FC236}">
                <a16:creationId xmlns:a16="http://schemas.microsoft.com/office/drawing/2014/main" id="{685C65EB-E20E-0369-1746-C43A9350E79A}"/>
              </a:ext>
            </a:extLst>
          </p:cNvPr>
          <p:cNvSpPr txBox="1"/>
          <p:nvPr/>
        </p:nvSpPr>
        <p:spPr>
          <a:xfrm>
            <a:off x="2997529" y="1136372"/>
            <a:ext cx="1396536" cy="369332"/>
          </a:xfrm>
          <a:prstGeom prst="rect">
            <a:avLst/>
          </a:prstGeom>
          <a:noFill/>
        </p:spPr>
        <p:txBody>
          <a:bodyPr wrap="none" rtlCol="0">
            <a:spAutoFit/>
          </a:bodyPr>
          <a:lstStyle/>
          <a:p>
            <a:r>
              <a:rPr lang="en-US" dirty="0"/>
              <a:t>Awareness</a:t>
            </a:r>
          </a:p>
        </p:txBody>
      </p:sp>
    </p:spTree>
    <p:extLst>
      <p:ext uri="{BB962C8B-B14F-4D97-AF65-F5344CB8AC3E}">
        <p14:creationId xmlns:p14="http://schemas.microsoft.com/office/powerpoint/2010/main" val="458066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DE886-EF12-D3A3-2D4F-9976FC9CC450}"/>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D7137FEF-CDB2-75EB-45AC-70C419B7249A}"/>
              </a:ext>
            </a:extLst>
          </p:cNvPr>
          <p:cNvSpPr>
            <a:spLocks noGrp="1"/>
          </p:cNvSpPr>
          <p:nvPr>
            <p:ph idx="1"/>
          </p:nvPr>
        </p:nvSpPr>
        <p:spPr>
          <a:xfrm>
            <a:off x="475013" y="1377538"/>
            <a:ext cx="11257807" cy="5201392"/>
          </a:xfrm>
        </p:spPr>
        <p:txBody>
          <a:bodyPr>
            <a:normAutofit lnSpcReduction="10000"/>
          </a:bodyPr>
          <a:lstStyle/>
          <a:p>
            <a:pPr marL="0" indent="0">
              <a:buNone/>
            </a:pPr>
            <a:r>
              <a:rPr lang="en-US" dirty="0"/>
              <a:t>1. </a:t>
            </a:r>
            <a:r>
              <a:rPr lang="en-US" dirty="0">
                <a:hlinkClick r:id="rId2"/>
              </a:rPr>
              <a:t>https://www.ahuri.edu.au/analysis/brief/when-are-australians-buying-their-first-home</a:t>
            </a:r>
            <a:r>
              <a:rPr lang="en-US" dirty="0"/>
              <a:t> </a:t>
            </a:r>
          </a:p>
          <a:p>
            <a:pPr marL="0" indent="0">
              <a:buNone/>
            </a:pPr>
            <a:r>
              <a:rPr lang="en-US" dirty="0"/>
              <a:t>2. </a:t>
            </a:r>
            <a:r>
              <a:rPr lang="en-US" dirty="0">
                <a:hlinkClick r:id="rId3"/>
              </a:rPr>
              <a:t>https://www.abs.gov.au/statistics/labour/earnings-and-working-conditions</a:t>
            </a:r>
            <a:r>
              <a:rPr lang="en-US" dirty="0"/>
              <a:t> </a:t>
            </a:r>
          </a:p>
          <a:p>
            <a:pPr marL="0" indent="0">
              <a:buNone/>
            </a:pPr>
            <a:r>
              <a:rPr lang="en-US" dirty="0"/>
              <a:t>3.</a:t>
            </a:r>
            <a:r>
              <a:rPr lang="en-US" dirty="0">
                <a:hlinkClick r:id="rId4"/>
              </a:rPr>
              <a:t>https://www.aph.gov.au/About_Parliament/Parliamentary_departments/Parliamentary_Library/Research/Issues_and_Insights/48th_Parliament/Implicationsofdeclininghomeownership#:~:text=Since%20peaking%20at%2071%25%20in,from%2061%25%20to%2043%25</a:t>
            </a:r>
            <a:r>
              <a:rPr lang="en-US" dirty="0"/>
              <a:t>. </a:t>
            </a:r>
          </a:p>
          <a:p>
            <a:pPr marL="0" indent="0">
              <a:buNone/>
            </a:pPr>
            <a:r>
              <a:rPr lang="en-US" dirty="0"/>
              <a:t>4. </a:t>
            </a:r>
            <a:r>
              <a:rPr lang="en-US" dirty="0">
                <a:hlinkClick r:id="rId5"/>
              </a:rPr>
              <a:t>https://www.refreshrenovations.com.au/articles/biggest-renovation-fears-study</a:t>
            </a:r>
            <a:endParaRPr lang="en-US" dirty="0"/>
          </a:p>
          <a:p>
            <a:pPr marL="0" indent="0">
              <a:buNone/>
            </a:pPr>
            <a:r>
              <a:rPr lang="en-US" dirty="0"/>
              <a:t>5. </a:t>
            </a:r>
            <a:r>
              <a:rPr lang="en-US" dirty="0">
                <a:hlinkClick r:id="rId6"/>
              </a:rPr>
              <a:t>https://www.comparethemarket.com.au/news/renovation-nation-52-of-homeowners-plan-to-spruce-up-their-digs-next-year/</a:t>
            </a:r>
            <a:endParaRPr lang="en-US" dirty="0"/>
          </a:p>
          <a:p>
            <a:pPr marL="0" indent="0">
              <a:buNone/>
            </a:pPr>
            <a:r>
              <a:rPr lang="en-US" dirty="0"/>
              <a:t>6. </a:t>
            </a:r>
            <a:r>
              <a:rPr lang="en-US" dirty="0">
                <a:hlinkClick r:id="rId7"/>
              </a:rPr>
              <a:t>https://www.samsung.com/us/business/builder/industry-innovation/insights/millennial-homebuyers-remorse-what-designers-need-to-know/</a:t>
            </a:r>
            <a:endParaRPr lang="en-US" dirty="0"/>
          </a:p>
          <a:p>
            <a:pPr marL="0" indent="0">
              <a:buNone/>
            </a:pPr>
            <a:r>
              <a:rPr lang="en-US" dirty="0"/>
              <a:t>7. </a:t>
            </a:r>
            <a:r>
              <a:rPr lang="en-US" dirty="0">
                <a:hlinkClick r:id="rId8"/>
              </a:rPr>
              <a:t>https://review.content-science.com/millennial-content-consumption-fact-sheet/#:~:text=Millennials%20are%20likely%20to%20connect,reading%20a%20social%20media%20review</a:t>
            </a:r>
            <a:r>
              <a:rPr lang="en-US" dirty="0"/>
              <a:t>. </a:t>
            </a:r>
          </a:p>
          <a:p>
            <a:pPr marL="0" indent="0">
              <a:buNone/>
            </a:pPr>
            <a:r>
              <a:rPr lang="en-US" dirty="0"/>
              <a:t>8. </a:t>
            </a:r>
            <a:r>
              <a:rPr lang="en-US" i="1" dirty="0">
                <a:hlinkClick r:id="rId9"/>
              </a:rPr>
              <a:t>https://media.sproutsocial.com/uploads/Sprout-Social-The-Digital-Natives-Report.pdf</a:t>
            </a:r>
            <a:endParaRPr lang="en-US" i="1" dirty="0"/>
          </a:p>
          <a:p>
            <a:pPr marL="0" indent="0">
              <a:buNone/>
            </a:pPr>
            <a:endParaRPr lang="en-US" dirty="0"/>
          </a:p>
        </p:txBody>
      </p:sp>
    </p:spTree>
    <p:extLst>
      <p:ext uri="{BB962C8B-B14F-4D97-AF65-F5344CB8AC3E}">
        <p14:creationId xmlns:p14="http://schemas.microsoft.com/office/powerpoint/2010/main" val="15844794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376</TotalTime>
  <Words>782</Words>
  <Application>Microsoft Office PowerPoint</Application>
  <PresentationFormat>Widescreen</PresentationFormat>
  <Paragraphs>85</Paragraphs>
  <Slides>7</Slides>
  <Notes>5</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Ion</vt:lpstr>
      <vt:lpstr>DCA LocalTasker Case Study</vt:lpstr>
      <vt:lpstr>Young homeowners and first-time renovators  </vt:lpstr>
      <vt:lpstr>Targeted advertisements</vt:lpstr>
      <vt:lpstr>Business partnerships</vt:lpstr>
      <vt:lpstr>Enhancements to app/website</vt:lpstr>
      <vt:lpstr>PowerPoint Presentation</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MARTHA HAYWARD</dc:creator>
  <cp:lastModifiedBy>MARTHA HAYWARD</cp:lastModifiedBy>
  <cp:revision>31</cp:revision>
  <dcterms:created xsi:type="dcterms:W3CDTF">2025-07-21T00:48:06Z</dcterms:created>
  <dcterms:modified xsi:type="dcterms:W3CDTF">2026-01-30T12:37:39Z</dcterms:modified>
</cp:coreProperties>
</file>